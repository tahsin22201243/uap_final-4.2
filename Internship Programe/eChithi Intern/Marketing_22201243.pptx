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9" r:id="rId8"/>
    <p:sldId id="263" r:id="rId9"/>
    <p:sldId id="268" r:id="rId10"/>
    <p:sldId id="265" r:id="rId11"/>
    <p:sldId id="264" r:id="rId12"/>
    <p:sldId id="267" r:id="rId13"/>
  </p:sldIdLst>
  <p:sldSz cx="18288000" cy="10287000"/>
  <p:notesSz cx="6858000" cy="9144000"/>
  <p:embeddedFontLst>
    <p:embeddedFont>
      <p:font typeface="ITC Avant Garde Gothic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7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337"/>
            <a:ext cx="5998829" cy="5998829"/>
          </a:xfrm>
          <a:custGeom>
            <a:avLst/>
            <a:gdLst/>
            <a:ahLst/>
            <a:cxnLst/>
            <a:rect l="l" t="t" r="r" b="b"/>
            <a:pathLst>
              <a:path w="5998829" h="5998829">
                <a:moveTo>
                  <a:pt x="0" y="0"/>
                </a:moveTo>
                <a:lnTo>
                  <a:pt x="5998829" y="0"/>
                </a:lnTo>
                <a:lnTo>
                  <a:pt x="5998829" y="5998829"/>
                </a:lnTo>
                <a:lnTo>
                  <a:pt x="0" y="5998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631923" y="1033692"/>
            <a:ext cx="3073400" cy="3073400"/>
          </a:xfrm>
          <a:custGeom>
            <a:avLst/>
            <a:gdLst/>
            <a:ahLst/>
            <a:cxnLst/>
            <a:rect l="l" t="t" r="r" b="b"/>
            <a:pathLst>
              <a:path w="3073400" h="3073400">
                <a:moveTo>
                  <a:pt x="0" y="0"/>
                </a:moveTo>
                <a:lnTo>
                  <a:pt x="3073400" y="0"/>
                </a:lnTo>
                <a:lnTo>
                  <a:pt x="3073400" y="3073400"/>
                </a:lnTo>
                <a:lnTo>
                  <a:pt x="0" y="3073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89171" y="4288171"/>
            <a:ext cx="5998829" cy="5998829"/>
          </a:xfrm>
          <a:custGeom>
            <a:avLst/>
            <a:gdLst/>
            <a:ahLst/>
            <a:cxnLst/>
            <a:rect l="l" t="t" r="r" b="b"/>
            <a:pathLst>
              <a:path w="5998829" h="5998829">
                <a:moveTo>
                  <a:pt x="5998829" y="5998829"/>
                </a:moveTo>
                <a:lnTo>
                  <a:pt x="0" y="5998829"/>
                </a:lnTo>
                <a:lnTo>
                  <a:pt x="0" y="0"/>
                </a:lnTo>
                <a:lnTo>
                  <a:pt x="5998829" y="0"/>
                </a:lnTo>
                <a:lnTo>
                  <a:pt x="5998829" y="59988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H="1" flipV="1">
            <a:off x="14185900" y="6184900"/>
            <a:ext cx="3073400" cy="3073400"/>
          </a:xfrm>
          <a:custGeom>
            <a:avLst/>
            <a:gdLst/>
            <a:ahLst/>
            <a:cxnLst/>
            <a:rect l="l" t="t" r="r" b="b"/>
            <a:pathLst>
              <a:path w="3073400" h="3073400">
                <a:moveTo>
                  <a:pt x="3073400" y="3073400"/>
                </a:moveTo>
                <a:lnTo>
                  <a:pt x="0" y="3073400"/>
                </a:lnTo>
                <a:lnTo>
                  <a:pt x="0" y="0"/>
                </a:lnTo>
                <a:lnTo>
                  <a:pt x="3073400" y="0"/>
                </a:lnTo>
                <a:lnTo>
                  <a:pt x="3073400" y="30734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82238" y="-22337"/>
            <a:ext cx="2205762" cy="2205762"/>
          </a:xfrm>
          <a:custGeom>
            <a:avLst/>
            <a:gdLst/>
            <a:ahLst/>
            <a:cxnLst/>
            <a:rect l="l" t="t" r="r" b="b"/>
            <a:pathLst>
              <a:path w="2205762" h="2205762">
                <a:moveTo>
                  <a:pt x="0" y="0"/>
                </a:moveTo>
                <a:lnTo>
                  <a:pt x="2205762" y="0"/>
                </a:lnTo>
                <a:lnTo>
                  <a:pt x="2205762" y="2205762"/>
                </a:lnTo>
                <a:lnTo>
                  <a:pt x="0" y="2205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8081238"/>
            <a:ext cx="2205762" cy="2205762"/>
          </a:xfrm>
          <a:custGeom>
            <a:avLst/>
            <a:gdLst/>
            <a:ahLst/>
            <a:cxnLst/>
            <a:rect l="l" t="t" r="r" b="b"/>
            <a:pathLst>
              <a:path w="2205762" h="2205762">
                <a:moveTo>
                  <a:pt x="0" y="0"/>
                </a:moveTo>
                <a:lnTo>
                  <a:pt x="2205762" y="0"/>
                </a:lnTo>
                <a:lnTo>
                  <a:pt x="2205762" y="2205762"/>
                </a:lnTo>
                <a:lnTo>
                  <a:pt x="0" y="2205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044828" y="190475"/>
            <a:ext cx="2941671" cy="2844426"/>
          </a:xfrm>
          <a:custGeom>
            <a:avLst/>
            <a:gdLst/>
            <a:ahLst/>
            <a:cxnLst/>
            <a:rect l="l" t="t" r="r" b="b"/>
            <a:pathLst>
              <a:path w="2941671" h="2844426">
                <a:moveTo>
                  <a:pt x="0" y="0"/>
                </a:moveTo>
                <a:lnTo>
                  <a:pt x="2941671" y="0"/>
                </a:lnTo>
                <a:lnTo>
                  <a:pt x="2941671" y="2844426"/>
                </a:lnTo>
                <a:lnTo>
                  <a:pt x="0" y="28444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628390" y="2986418"/>
            <a:ext cx="13774545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Marketing Executive </a:t>
            </a:r>
            <a:r>
              <a:rPr lang="en-US" sz="6600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Internship</a:t>
            </a:r>
          </a:p>
          <a:p>
            <a:pPr algn="ctr">
              <a:lnSpc>
                <a:spcPts val="8959"/>
              </a:lnSpc>
            </a:pPr>
            <a:endParaRPr lang="en-US" sz="6399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67370" y="4742210"/>
            <a:ext cx="5323127" cy="235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6"/>
              </a:lnSpc>
            </a:pPr>
            <a:r>
              <a:rPr lang="en-US" sz="3304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SUBMITTED BY:</a:t>
            </a:r>
          </a:p>
          <a:p>
            <a:pPr algn="ctr">
              <a:lnSpc>
                <a:spcPts val="4626"/>
              </a:lnSpc>
            </a:pPr>
            <a:r>
              <a:rPr lang="en-US" sz="3304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H.M. TAHSIN SHEIKH</a:t>
            </a:r>
          </a:p>
          <a:p>
            <a:pPr algn="ctr">
              <a:lnSpc>
                <a:spcPts val="4626"/>
              </a:lnSpc>
              <a:spcBef>
                <a:spcPct val="0"/>
              </a:spcBef>
            </a:pPr>
            <a:r>
              <a:rPr lang="en-US" sz="3304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ID: 22201243</a:t>
            </a:r>
          </a:p>
          <a:p>
            <a:pPr algn="ctr">
              <a:lnSpc>
                <a:spcPts val="4626"/>
              </a:lnSpc>
              <a:spcBef>
                <a:spcPct val="0"/>
              </a:spcBef>
            </a:pPr>
            <a:r>
              <a:rPr lang="en-US" sz="3304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SEC: </a:t>
            </a:r>
            <a:r>
              <a:rPr lang="en-US" sz="3304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</a:t>
            </a:r>
            <a:endParaRPr lang="en-US" sz="3304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044828" y="4643959"/>
            <a:ext cx="6488687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SUBMITTED TO: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 err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Hriday</a:t>
            </a:r>
            <a:r>
              <a:rPr lang="en-US" sz="3300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</a:t>
            </a:r>
            <a:r>
              <a:rPr lang="en-US" sz="33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Sarkar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Supervisor of </a:t>
            </a:r>
            <a:r>
              <a:rPr lang="en-US" sz="3300" b="1" dirty="0" err="1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echithi</a:t>
            </a:r>
            <a:endParaRPr lang="en-US" sz="33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60" y="36546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539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820567" y="365463"/>
            <a:ext cx="14656157" cy="1095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600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Drawbacks </a:t>
            </a:r>
            <a:r>
              <a:rPr lang="en-US" sz="66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of </a:t>
            </a:r>
            <a:r>
              <a:rPr lang="en-US" sz="6600" b="1" dirty="0" err="1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eChithi</a:t>
            </a:r>
            <a:endParaRPr lang="en-US" sz="66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1447800" y="1806026"/>
            <a:ext cx="11223778" cy="710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Digital Reach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 customers may not know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eChithi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Product Visibility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often search online before purchasing components.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Content Marketing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Simply showing a product is less effective than showing what can be built with it.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Competition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can compare prices and products from multiple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sellers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Customer Engagement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need guidance about which components are suitable for their projects.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Repeat Purchase Opportunity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completing one project, customers may not automatically return.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36546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128005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44733" y="752475"/>
            <a:ext cx="13724225" cy="1091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Drawbacks SWOT Analysis</a:t>
            </a:r>
            <a:endParaRPr lang="en-US" sz="65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7880" y="4266337"/>
            <a:ext cx="664892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Strengths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Existing connection with UAP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Specialized robotics/electronics products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Student-focused customer 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Growing interest in robotics and </a:t>
            </a:r>
            <a:r>
              <a:rPr lang="en-US" sz="2400" dirty="0" err="1"/>
              <a:t>IoT</a:t>
            </a: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Ability to provide project components in one place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77400" y="4266337"/>
            <a:ext cx="73914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Weaknesses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Limited brand awareness outside existing 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Product information may not reach enough potential 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Heavy dependence on direct/customer-based selling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Limited educational content and product demonstrations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Competition from online electronics marketplaces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798" y="34641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144678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7863" y="752475"/>
            <a:ext cx="14821787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Digital Marketing Solution</a:t>
            </a:r>
            <a:endParaRPr lang="en-US" sz="65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07542" y="2671936"/>
            <a:ext cx="155850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Use a 4-step digital marketing funnel</a:t>
            </a:r>
            <a:r>
              <a:rPr lang="en-US" sz="2800" b="1" dirty="0" smtClean="0"/>
              <a:t>:</a:t>
            </a:r>
          </a:p>
          <a:p>
            <a:endParaRPr lang="en-US" sz="2800" b="1" dirty="0"/>
          </a:p>
          <a:p>
            <a:pPr algn="ctr"/>
            <a:r>
              <a:rPr lang="en-US" sz="2400" b="1" dirty="0"/>
              <a:t>Attract → Engage → Convert → Retain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998220" y="4864501"/>
            <a:ext cx="2667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Attract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Facebook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Instagram </a:t>
            </a:r>
            <a:r>
              <a:rPr lang="en-US" sz="2400" dirty="0" smtClean="0"/>
              <a:t> 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YouTube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Google 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8200" y="4851801"/>
            <a:ext cx="320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Engage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Robotics tutorials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Project videos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Product</a:t>
            </a:r>
          </a:p>
          <a:p>
            <a:r>
              <a:rPr lang="en-US" sz="2400" dirty="0" smtClean="0"/>
              <a:t>demonstrations 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/>
              <a:t>project showcases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0600" y="4847122"/>
            <a:ext cx="2819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Convert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Easy ordering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Product bundles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Student discounts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Project kit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87300" y="4843325"/>
            <a:ext cx="4000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Retain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Loyalty program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After-sales support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New product notifications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Community building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0978" y="7798418"/>
            <a:ext cx="120018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“Build a Line Following Robot with Arduino UNO – Complete Components Available at </a:t>
            </a:r>
            <a:r>
              <a:rPr lang="en-US" sz="2400" dirty="0" err="1"/>
              <a:t>eChithi</a:t>
            </a:r>
            <a:r>
              <a:rPr lang="en-US" sz="2400" dirty="0"/>
              <a:t>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6770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190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40252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194452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048000" y="19050"/>
            <a:ext cx="12452446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Digital Marketing Strategies</a:t>
            </a:r>
            <a:endParaRPr lang="en-US" sz="65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035090"/>
              </p:ext>
            </p:extLst>
          </p:nvPr>
        </p:nvGraphicFramePr>
        <p:xfrm>
          <a:off x="4473623" y="2915572"/>
          <a:ext cx="9601200" cy="62788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6335935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871188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How </a:t>
                      </a:r>
                      <a:r>
                        <a:rPr lang="en-US" sz="2800" b="1" dirty="0" err="1"/>
                        <a:t>eChithi</a:t>
                      </a:r>
                      <a:r>
                        <a:rPr lang="en-US" sz="2800" b="1" dirty="0"/>
                        <a:t> Can Use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191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Instagram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Reels, product demonstrations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751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YouTube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Complete tutorials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202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Content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Tutorials, guides and project ideas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924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Influencer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Collaborate with robotics creators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643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Email/WhatsApp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Offers and new product notifications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631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University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Work with university clubs and labs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646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Paid Advertising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Target students, makers and engineers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588595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037880" y="1259696"/>
            <a:ext cx="9144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Most important strategy:</a:t>
            </a:r>
            <a:endParaRPr lang="en-US" sz="2800" dirty="0"/>
          </a:p>
          <a:p>
            <a:r>
              <a:rPr lang="en-US" sz="2800" b="1" dirty="0"/>
              <a:t>Content + Social Media + University Community Marketing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60" y="36546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99490" y="752475"/>
            <a:ext cx="1324071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Suitable Strategies for </a:t>
            </a:r>
            <a:r>
              <a:rPr lang="en-US" sz="6500" b="1" dirty="0" err="1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eChithi</a:t>
            </a:r>
            <a:endParaRPr lang="en-US" sz="65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95400" y="2476500"/>
            <a:ext cx="16611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“Build → Teach → Show → Sell”</a:t>
            </a:r>
          </a:p>
          <a:p>
            <a:r>
              <a:rPr lang="en-US" sz="2800" dirty="0"/>
              <a:t>Instead of only selling components, </a:t>
            </a:r>
            <a:r>
              <a:rPr lang="en-US" sz="2800" dirty="0" err="1"/>
              <a:t>eChithi</a:t>
            </a:r>
            <a:r>
              <a:rPr lang="en-US" sz="2800" dirty="0"/>
              <a:t> can create content around </a:t>
            </a:r>
            <a:r>
              <a:rPr lang="en-US" sz="2800" b="1" dirty="0"/>
              <a:t>what customers can build with those components.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1447800" y="4493554"/>
            <a:ext cx="9144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Example campaign:</a:t>
            </a:r>
            <a:endParaRPr lang="en-US" sz="2400" dirty="0"/>
          </a:p>
          <a:p>
            <a:r>
              <a:rPr lang="en-US" sz="2400" b="1" dirty="0"/>
              <a:t>Product:</a:t>
            </a:r>
            <a:r>
              <a:rPr lang="en-US" sz="2400" dirty="0"/>
              <a:t> ESP32</a:t>
            </a:r>
            <a:br>
              <a:rPr lang="en-US" sz="2400" dirty="0"/>
            </a:br>
            <a:r>
              <a:rPr lang="en-US" sz="2400" dirty="0"/>
              <a:t>↓</a:t>
            </a:r>
            <a:br>
              <a:rPr lang="en-US" sz="2400" dirty="0"/>
            </a:br>
            <a:r>
              <a:rPr lang="en-US" sz="2400" b="1" dirty="0"/>
              <a:t>Content:</a:t>
            </a:r>
            <a:r>
              <a:rPr lang="en-US" sz="2400" dirty="0"/>
              <a:t> “5 </a:t>
            </a:r>
            <a:r>
              <a:rPr lang="en-US" sz="2400" dirty="0" err="1"/>
              <a:t>IoT</a:t>
            </a:r>
            <a:r>
              <a:rPr lang="en-US" sz="2400" dirty="0"/>
              <a:t> Projects You Can Build with ESP32”</a:t>
            </a:r>
            <a:br>
              <a:rPr lang="en-US" sz="2400" dirty="0"/>
            </a:br>
            <a:r>
              <a:rPr lang="en-US" sz="2400" dirty="0"/>
              <a:t>↓</a:t>
            </a:r>
            <a:br>
              <a:rPr lang="en-US" sz="2400" dirty="0"/>
            </a:br>
            <a:r>
              <a:rPr lang="en-US" sz="2400" b="1" dirty="0"/>
              <a:t>Video:</a:t>
            </a:r>
            <a:r>
              <a:rPr lang="en-US" sz="2400" dirty="0"/>
              <a:t> 30-second demonstration</a:t>
            </a:r>
            <a:br>
              <a:rPr lang="en-US" sz="2400" dirty="0"/>
            </a:br>
            <a:r>
              <a:rPr lang="en-US" sz="2400" dirty="0"/>
              <a:t>↓</a:t>
            </a:r>
            <a:br>
              <a:rPr lang="en-US" sz="2400" dirty="0"/>
            </a:br>
            <a:r>
              <a:rPr lang="en-US" sz="2400" b="1" dirty="0"/>
              <a:t>Call-to-action:</a:t>
            </a:r>
            <a:r>
              <a:rPr lang="en-US" sz="2400" dirty="0"/>
              <a:t> “All required components available at </a:t>
            </a:r>
            <a:r>
              <a:rPr lang="en-US" sz="2400" dirty="0" err="1"/>
              <a:t>eChithi</a:t>
            </a:r>
            <a:r>
              <a:rPr lang="en-US" sz="2400" dirty="0"/>
              <a:t>.”</a:t>
            </a:r>
            <a:br>
              <a:rPr lang="en-US" sz="2400" dirty="0"/>
            </a:br>
            <a:r>
              <a:rPr lang="en-US" sz="2400" dirty="0"/>
              <a:t>↓</a:t>
            </a:r>
            <a:br>
              <a:rPr lang="en-US" sz="2400" dirty="0"/>
            </a:br>
            <a:r>
              <a:rPr lang="en-US" sz="2400" b="1" dirty="0"/>
              <a:t>Bundle:</a:t>
            </a:r>
            <a:r>
              <a:rPr lang="en-US" sz="2400" dirty="0"/>
              <a:t> ESP32 + Sensor + Jumper Wire + Breadboard</a:t>
            </a:r>
            <a:br>
              <a:rPr lang="en-US" sz="2400" dirty="0"/>
            </a:br>
            <a:r>
              <a:rPr lang="en-US" sz="2400" dirty="0"/>
              <a:t>↓</a:t>
            </a:r>
            <a:br>
              <a:rPr lang="en-US" sz="2400" dirty="0"/>
            </a:br>
            <a:r>
              <a:rPr lang="en-US" sz="2400" b="1" dirty="0"/>
              <a:t>Purchase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60" y="36546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66745" y="190500"/>
            <a:ext cx="151638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Justification of Digital Marketing Strategies</a:t>
            </a:r>
            <a:endParaRPr lang="en-US" sz="65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566745" y="3034228"/>
            <a:ext cx="12801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Targeted Reach: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Directly connects with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eChithi’s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core market—students, robotics enthusiasts, researchers, and makers.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Visibility: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Demonstrations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tutorials, and project-based content clearly communicate the practical value of products.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Efficiency: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Digital channels provide broader reach with lower costs compared with traditional advertising.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Advantage: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eChithi’s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collaboration with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University of Asia Pacific (UAP)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an established academic network.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Engagement: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Educational content builds trust and encourages continuous interaction with the brand. </a:t>
            </a:r>
          </a:p>
        </p:txBody>
      </p:sp>
    </p:spTree>
    <p:extLst>
      <p:ext uri="{BB962C8B-B14F-4D97-AF65-F5344CB8AC3E}">
        <p14:creationId xmlns:p14="http://schemas.microsoft.com/office/powerpoint/2010/main" val="300690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38347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539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84502" y="789536"/>
            <a:ext cx="13265147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Digital Marketing will Improve</a:t>
            </a:r>
            <a:endParaRPr lang="en-US" sz="65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063189"/>
              </p:ext>
            </p:extLst>
          </p:nvPr>
        </p:nvGraphicFramePr>
        <p:xfrm>
          <a:off x="2862071" y="3848100"/>
          <a:ext cx="12039600" cy="4952999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013200">
                  <a:extLst>
                    <a:ext uri="{9D8B030D-6E8A-4147-A177-3AD203B41FA5}">
                      <a16:colId xmlns:a16="http://schemas.microsoft.com/office/drawing/2014/main" val="3326428816"/>
                    </a:ext>
                  </a:extLst>
                </a:gridCol>
                <a:gridCol w="4013200">
                  <a:extLst>
                    <a:ext uri="{9D8B030D-6E8A-4147-A177-3AD203B41FA5}">
                      <a16:colId xmlns:a16="http://schemas.microsoft.com/office/drawing/2014/main" val="3518873891"/>
                    </a:ext>
                  </a:extLst>
                </a:gridCol>
                <a:gridCol w="4013200">
                  <a:extLst>
                    <a:ext uri="{9D8B030D-6E8A-4147-A177-3AD203B41FA5}">
                      <a16:colId xmlns:a16="http://schemas.microsoft.com/office/drawing/2014/main" val="737931817"/>
                    </a:ext>
                  </a:extLst>
                </a:gridCol>
              </a:tblGrid>
              <a:tr h="56605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Current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12-Month Target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52484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Social Media Reach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+100–150%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049819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Website/Online Visits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+100%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334135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Customer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+50–100%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45792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Online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+50–100%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2744290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Repeat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+30–50%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680040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University Partnerships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Few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5–10 institutions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56134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Project Kit 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Emerging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Strong new revenue stream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17955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590800" y="2376726"/>
            <a:ext cx="93727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Stats can </a:t>
            </a:r>
            <a:r>
              <a:rPr lang="en-US" sz="2800" b="1" dirty="0"/>
              <a:t>present these as target KPIs, not guaranteed </a:t>
            </a:r>
            <a:r>
              <a:rPr lang="en-US" sz="2800" b="1" dirty="0" smtClean="0"/>
              <a:t>results: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050" y="34641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132898" y="346413"/>
            <a:ext cx="10922413" cy="1091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Cost VS Benefits</a:t>
            </a:r>
            <a:endParaRPr lang="en-US" sz="65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269" y="1009975"/>
            <a:ext cx="11786055" cy="6197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5486400" y="3180239"/>
            <a:ext cx="26821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Expected Benefit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0" y="3059531"/>
            <a:ext cx="24080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Marketing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7883" y="5604014"/>
            <a:ext cx="33153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Expected Benefit:</a:t>
            </a:r>
            <a:r>
              <a:rPr lang="en-US" sz="2400" dirty="0" smtClean="0"/>
              <a:t> 70%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Increased </a:t>
            </a:r>
            <a:r>
              <a:rPr lang="en-US" sz="2400" dirty="0"/>
              <a:t>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New customers </a:t>
            </a:r>
            <a:r>
              <a:rPr lang="en-US" sz="2400" dirty="0" smtClean="0"/>
              <a:t> 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Repeat 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University &amp; student reach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92739" y="5604014"/>
            <a:ext cx="417564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Cost:</a:t>
            </a:r>
            <a:r>
              <a:rPr lang="en-US" sz="2400" dirty="0"/>
              <a:t> 30%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Social media promotion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Paid advertising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Content creation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Influencer/online campaigns </a:t>
            </a:r>
          </a:p>
        </p:txBody>
      </p:sp>
    </p:spTree>
    <p:extLst>
      <p:ext uri="{BB962C8B-B14F-4D97-AF65-F5344CB8AC3E}">
        <p14:creationId xmlns:p14="http://schemas.microsoft.com/office/powerpoint/2010/main" val="303675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409730" y="167430"/>
            <a:ext cx="10334712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b="1" dirty="0" err="1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eChithi</a:t>
            </a:r>
            <a:r>
              <a:rPr lang="en-US" sz="65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next 5 years</a:t>
            </a:r>
            <a:endParaRPr lang="en-US" sz="65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0" y="38347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74444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Rectangle 10"/>
          <p:cNvSpPr/>
          <p:nvPr/>
        </p:nvSpPr>
        <p:spPr>
          <a:xfrm>
            <a:off x="1049020" y="1757690"/>
            <a:ext cx="114040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From a component shop → to a complete robotics &amp; electronics ecosystem.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676400" y="3044132"/>
            <a:ext cx="1098672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 1: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strong digital presence &amp; online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 2: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Expand university partnerships &amp; student community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 3: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Reach customers across Bangladesh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 4: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Launch robotics,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project kits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 5: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Become a leading robotics &amp; electronics component brand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050" y="34641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19600" y="338793"/>
            <a:ext cx="10922413" cy="1091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Conclusion</a:t>
            </a:r>
            <a:endParaRPr lang="en-US" sz="65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71600" y="2268919"/>
            <a:ext cx="6876937" cy="4911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/>
              <a:t>Expected </a:t>
            </a:r>
            <a:r>
              <a:rPr lang="en-US" sz="2800" b="1" dirty="0" smtClean="0"/>
              <a:t>Future </a:t>
            </a:r>
            <a:r>
              <a:rPr lang="en-US" sz="2800" b="1" dirty="0" err="1" smtClean="0"/>
              <a:t>echithi</a:t>
            </a:r>
            <a:r>
              <a:rPr lang="en-US" sz="2800" b="1" dirty="0" smtClean="0"/>
              <a:t>:</a:t>
            </a:r>
            <a:endParaRPr lang="en-US" sz="28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More brand awareness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More students and makers reached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Increased online sales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More repeat customers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Stronger university relationships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Expansion into electronics and </a:t>
            </a:r>
            <a:r>
              <a:rPr lang="en-US" sz="2800" dirty="0" err="1"/>
              <a:t>IoT</a:t>
            </a:r>
            <a:endParaRPr lang="en-US" sz="2800" dirty="0"/>
          </a:p>
          <a:p>
            <a:pPr algn="l">
              <a:lnSpc>
                <a:spcPts val="4691"/>
              </a:lnSpc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2000" y="6760477"/>
            <a:ext cx="167067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“</a:t>
            </a:r>
            <a:r>
              <a:rPr lang="en-US" sz="2800" b="1" dirty="0" err="1"/>
              <a:t>eChithi</a:t>
            </a:r>
            <a:r>
              <a:rPr lang="en-US" sz="2800" b="1" dirty="0"/>
              <a:t> should not only sell the components to build the next robot—it should become the platform that helps students build it.”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1807" y="543037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858204" y="1469936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428242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282420" y="0"/>
                </a:lnTo>
                <a:lnTo>
                  <a:pt x="428242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928563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223225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45283" y="3244820"/>
            <a:ext cx="13858395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378"/>
              </a:lnSpc>
            </a:pPr>
            <a:r>
              <a:rPr lang="en-US" sz="13841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0"/>
            <a:ext cx="5998829" cy="5998829"/>
          </a:xfrm>
          <a:custGeom>
            <a:avLst/>
            <a:gdLst/>
            <a:ahLst/>
            <a:cxnLst/>
            <a:rect l="l" t="t" r="r" b="b"/>
            <a:pathLst>
              <a:path w="5998829" h="5998829">
                <a:moveTo>
                  <a:pt x="0" y="0"/>
                </a:moveTo>
                <a:lnTo>
                  <a:pt x="5998829" y="0"/>
                </a:lnTo>
                <a:lnTo>
                  <a:pt x="5998829" y="5998829"/>
                </a:lnTo>
                <a:lnTo>
                  <a:pt x="0" y="5998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631923" y="1056030"/>
            <a:ext cx="3073400" cy="3073400"/>
          </a:xfrm>
          <a:custGeom>
            <a:avLst/>
            <a:gdLst/>
            <a:ahLst/>
            <a:cxnLst/>
            <a:rect l="l" t="t" r="r" b="b"/>
            <a:pathLst>
              <a:path w="3073400" h="3073400">
                <a:moveTo>
                  <a:pt x="0" y="0"/>
                </a:moveTo>
                <a:lnTo>
                  <a:pt x="3073400" y="0"/>
                </a:lnTo>
                <a:lnTo>
                  <a:pt x="3073400" y="3073400"/>
                </a:lnTo>
                <a:lnTo>
                  <a:pt x="0" y="307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2289171" y="4442469"/>
            <a:ext cx="5998829" cy="5998829"/>
          </a:xfrm>
          <a:custGeom>
            <a:avLst/>
            <a:gdLst/>
            <a:ahLst/>
            <a:cxnLst/>
            <a:rect l="l" t="t" r="r" b="b"/>
            <a:pathLst>
              <a:path w="5998829" h="5998829">
                <a:moveTo>
                  <a:pt x="5998829" y="5998829"/>
                </a:moveTo>
                <a:lnTo>
                  <a:pt x="0" y="5998829"/>
                </a:lnTo>
                <a:lnTo>
                  <a:pt x="0" y="0"/>
                </a:lnTo>
                <a:lnTo>
                  <a:pt x="5998829" y="0"/>
                </a:lnTo>
                <a:lnTo>
                  <a:pt x="5998829" y="599882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 flipH="1" flipV="1">
            <a:off x="14185900" y="6207237"/>
            <a:ext cx="3073400" cy="3073400"/>
          </a:xfrm>
          <a:custGeom>
            <a:avLst/>
            <a:gdLst/>
            <a:ahLst/>
            <a:cxnLst/>
            <a:rect l="l" t="t" r="r" b="b"/>
            <a:pathLst>
              <a:path w="3073400" h="3073400">
                <a:moveTo>
                  <a:pt x="3073400" y="3073400"/>
                </a:moveTo>
                <a:lnTo>
                  <a:pt x="0" y="3073400"/>
                </a:lnTo>
                <a:lnTo>
                  <a:pt x="0" y="0"/>
                </a:lnTo>
                <a:lnTo>
                  <a:pt x="3073400" y="0"/>
                </a:lnTo>
                <a:lnTo>
                  <a:pt x="3073400" y="30734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648</Words>
  <Application>Microsoft Office PowerPoint</Application>
  <PresentationFormat>Custom</PresentationFormat>
  <Paragraphs>159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ITC Avant Garde Gothic Bold</vt:lpstr>
      <vt:lpstr>Arial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Violet Black Geometric  Simple Presentation</dc:title>
  <cp:lastModifiedBy>User</cp:lastModifiedBy>
  <cp:revision>25</cp:revision>
  <dcterms:created xsi:type="dcterms:W3CDTF">2006-08-16T00:00:00Z</dcterms:created>
  <dcterms:modified xsi:type="dcterms:W3CDTF">2026-08-19T09:40:28Z</dcterms:modified>
  <dc:identifier>DAHCKBrTXlI</dc:identifier>
</cp:coreProperties>
</file>